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把噪声 “翻译” 成高斯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00A896"/>
                </a:solidFill>
                <a:latin typeface="Microsoft YaHei"/>
              </a:rPr>
              <a:t>用 NTN 提升 BFI 去噪的泛化性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Microsoft YaHei"/>
              </a:rPr>
              <a:t>复现并改造《Learning to Translate Noise for Robust Image Denoising》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Microsoft YaHei"/>
              </a:rPr>
              <a:t>arXiv:2412.04727 → 无真值 GT 的 BFI / Noise2Noise 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B7682"/>
                </a:solidFill>
                <a:latin typeface="Microsoft YaHei"/>
              </a:rPr>
              <a:t>宋亚栋  ·  组会汇报  · 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背景：去噪模型“换个噪声就翻车”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00800" cy="43891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BFI（血流成像）原始图噪声很大，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去噪是后续分析的必要前处理。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深度去噪器在“训练时见过的噪声”上很好，</a:t>
            </a:r>
            <a:r>
              <a:rPr sz="1500" b="1">
                <a:solidFill>
                  <a:srgbClr val="C0563A"/>
                </a:solidFill>
                <a:latin typeface="Microsoft YaHei"/>
              </a:rPr>
              <a:t>一旦换采集设置/噪声分布就明显变差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（OOD 泛化差）。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我们已有的 Noise2Noise(N2N) 也一样：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只在见过的噪声上强。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2A2E35"/>
                </a:solidFill>
                <a:latin typeface="Microsoft YaHei"/>
              </a:rPr>
              <a:t>目标：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让模型对“没见过的噪声”也稳——正是本文要解决的问题。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4023360" cy="123444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93392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B7682"/>
                </a:solidFill>
                <a:latin typeface="Microsoft YaHei"/>
              </a:rPr>
              <a:t>训练时见过的噪声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C7293"/>
                </a:solidFill>
                <a:latin typeface="Microsoft YaHei"/>
              </a:rPr>
              <a:t>去噪效果好  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611880"/>
            <a:ext cx="4023360" cy="123444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3776472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B7682"/>
                </a:solidFill>
                <a:latin typeface="Microsoft YaHei"/>
              </a:rPr>
              <a:t>没见过的新噪声 (OOD)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C0563A"/>
                </a:solidFill>
                <a:latin typeface="Microsoft YaHei"/>
              </a:rPr>
              <a:t>残留 / 过平滑  ✘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81159" y="3108960"/>
            <a:ext cx="457200" cy="457200"/>
          </a:xfrm>
          <a:prstGeom prst="downArrow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定位：它和已有方法的区别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611880" cy="3749039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611880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C7293"/>
                </a:solidFill>
                <a:latin typeface="Microsoft YaHei"/>
              </a:rPr>
              <a:t>合成高斯 / 监督去噪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A2E35"/>
                </a:solidFill>
                <a:latin typeface="Microsoft YaHei"/>
              </a:rPr>
              <a:t>只认高斯噪声；遇到真实噪声直接崩。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37360"/>
            <a:ext cx="3611880" cy="3749039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1737360"/>
            <a:ext cx="3611880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0574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65A82"/>
                </a:solidFill>
                <a:latin typeface="Microsoft YaHei"/>
              </a:rPr>
              <a:t>N2N / 真实数据训练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92608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A2E35"/>
                </a:solidFill>
                <a:latin typeface="Microsoft YaHei"/>
              </a:rPr>
              <a:t>受限于训练噪声分布，OOD 仍会过拟合。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1737360"/>
            <a:ext cx="3611880" cy="3749039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75904" y="1737360"/>
            <a:ext cx="361188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20574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0A896"/>
                </a:solidFill>
                <a:latin typeface="Microsoft YaHei"/>
              </a:rPr>
              <a:t>NTN（本文）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292608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A2E35"/>
                </a:solidFill>
                <a:latin typeface="Microsoft YaHei"/>
              </a:rPr>
              <a:t>不直接去未知噪声，先“翻译”成高斯，再用通用高斯去噪器 → 任意噪声都能处理。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6B7682"/>
                </a:solidFill>
                <a:latin typeface="Microsoft YaHei"/>
              </a:rPr>
              <a:t>一句话：把“去各种噪声”的难题，转化为“把各种噪声翻译成同一种高斯”的简单问题。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核心思路：与其硬去噪，不如先“翻译”噪声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1295C"/>
                </a:solidFill>
                <a:latin typeface="Microsoft YaHei"/>
              </a:rPr>
              <a:t>关键观察（论文 Fig.1）：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给真实噪声图再加一点高斯噪声，反而更好去——因为去噪器最擅长高斯。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A2E35"/>
                </a:solidFill>
                <a:latin typeface="Microsoft YaHei"/>
              </a:rPr>
              <a:t>于是：先用一个小网络 </a:t>
            </a:r>
            <a:r>
              <a:rPr sz="1500" b="1">
                <a:solidFill>
                  <a:srgbClr val="00A896"/>
                </a:solidFill>
                <a:latin typeface="Microsoft YaHei"/>
              </a:rPr>
              <a:t>T 把未知噪声翻译成“空间不相关的高斯噪声”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，再交给专门去高斯的网络 D。</a:t>
            </a:r>
          </a:p>
        </p:txBody>
      </p:sp>
      <p:pic>
        <p:nvPicPr>
          <p:cNvPr id="7" name="Picture 6" descr="fig1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02" y="2880360"/>
            <a:ext cx="10778915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Microsoft YaHei"/>
              </a:rPr>
              <a:t>论文 Fig.1：OOD 噪声图 → 噪声翻译网络 → 高斯噪声图 → 高斯去噪器 → 干净图。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方法：T 翻译 + D 去高斯（两阶段）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04</a:t>
            </a:r>
          </a:p>
        </p:txBody>
      </p:sp>
      <p:pic>
        <p:nvPicPr>
          <p:cNvPr id="6" name="Picture 5" descr="fig3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5969"/>
            <a:ext cx="6766560" cy="262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2452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Microsoft YaHei"/>
              </a:rPr>
              <a:t>论文 Fig.3：训练框架（T 可训练🔥，D 冻结❄）。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554480"/>
            <a:ext cx="402336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21295C"/>
                </a:solidFill>
                <a:latin typeface="Microsoft YaHei"/>
              </a:rPr>
              <a:t>阶段一：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训练只会去“已知高斯噪声”的去噪器 D（偏科生）。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21295C"/>
                </a:solidFill>
                <a:latin typeface="Microsoft YaHei"/>
              </a:rPr>
              <a:t>阶段二：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冻结 D，训练翻译器 T，使 D(T(I)) ≈ 干净图。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21295C"/>
                </a:solidFill>
                <a:latin typeface="Microsoft YaHei"/>
              </a:rPr>
              <a:t>两个损失：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implicit（去噪结果像干净图）+ explicit（用 Wasserstein 把翻译后噪声逼成高斯：空间域正态、频域 Rayleigh → 更白）。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00A896"/>
                </a:solidFill>
                <a:latin typeface="Microsoft YaHei"/>
              </a:rPr>
              <a:t>泛化来源：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D 只认高斯（不会过拟合某种真实噪声），T 负责把任意噪声搬到高斯工作点。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我们的改造：无 GT 的 BFI / N2N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2651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没有真干净 GT → </a:t>
            </a:r>
            <a:r>
              <a:rPr sz="1500" b="1">
                <a:solidFill>
                  <a:srgbClr val="00A896"/>
                </a:solidFill>
                <a:latin typeface="Microsoft YaHei"/>
              </a:rPr>
              <a:t>用 N2N 输出当伪干净 Ĉ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（与输入内容对齐，翻译后噪声才“纯”、不误伤血管）。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D' 改成“盲高斯专家”：σ∈[0.08, 0.6]，</a:t>
            </a:r>
            <a:r>
              <a:rPr sz="1500" b="1">
                <a:solidFill>
                  <a:srgbClr val="00A896"/>
                </a:solidFill>
                <a:latin typeface="Microsoft YaHei"/>
              </a:rPr>
              <a:t>覆盖实测真实噪声跨度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（log1p 域 level1≈0.43 ~ level4≈0.10，≈1/N），下界远离 0 堵死“恒等捷径”。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explicit loss 后半段才启用（防早期翻译噪声偏差大、训练崩）。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公平实验：N2N 与 NTN 都只用 level 2/3/4 训练，</a:t>
            </a:r>
            <a:r>
              <a:rPr sz="1500" b="1">
                <a:solidFill>
                  <a:srgbClr val="C0563A"/>
                </a:solidFill>
                <a:latin typeface="Microsoft YaHei"/>
              </a:rPr>
              <a:t>最噪的 level1 留作 OOD 测试。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09160"/>
            <a:ext cx="2286000" cy="91440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2A2E35"/>
                </a:solidFill>
                <a:latin typeface="Microsoft YaHei"/>
              </a:rPr>
              <a:t>噪声图 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5010912"/>
            <a:ext cx="411480" cy="310896"/>
          </a:xfrm>
          <a:prstGeom prst="rightArrow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4709160"/>
            <a:ext cx="2286000" cy="9144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7091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翻译器 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5010912"/>
            <a:ext cx="411480" cy="310896"/>
          </a:xfrm>
          <a:prstGeom prst="rightArrow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4709160"/>
            <a:ext cx="2286000" cy="9144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7091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盲高斯 D'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8240" y="5010912"/>
            <a:ext cx="411480" cy="310896"/>
          </a:xfrm>
          <a:prstGeom prst="rightArrow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39" y="4709160"/>
            <a:ext cx="2286000" cy="9144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47091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干净图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6B7682"/>
                </a:solidFill>
                <a:latin typeface="Microsoft YaHei"/>
              </a:rPr>
              <a:t>Ĉ = N2N(I)  作为伪干净目标，同时用作公平对照基线。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结果①：level1（OOD）定量，NTN &gt; N2N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chart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8565"/>
            <a:ext cx="5760720" cy="3809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8288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6B7682"/>
                </a:solidFill>
                <a:latin typeface="Microsoft YaHei"/>
              </a:rPr>
              <a:t>OOD 泛化增益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400" b="1">
                <a:solidFill>
                  <a:srgbClr val="00A896"/>
                </a:solidFill>
                <a:latin typeface="Microsoft YaHei"/>
              </a:rPr>
              <a:t>+0.63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4290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2A2E35"/>
                </a:solidFill>
                <a:latin typeface="Microsoft YaHei"/>
              </a:rPr>
              <a:t>NTN 25.64  vs  N2N 25.01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8862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2A2E35"/>
                </a:solidFill>
                <a:latin typeface="Microsoft YaHei"/>
              </a:rPr>
              <a:t>SSIM 基本持平（0.758 vs 0.764）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572000"/>
            <a:ext cx="4754880" cy="137160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736592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6B7682"/>
                </a:solidFill>
                <a:latin typeface="Microsoft YaHei"/>
              </a:rPr>
              <a:t>评测口径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A2E35"/>
                </a:solidFill>
                <a:latin typeface="Microsoft YaHei"/>
              </a:rPr>
              <a:t>伪GT = 同场景 level4 多帧均值；N2N 与 NTN 同用 level2/3/4 训练、同一 GT 评测，39 场景。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结果②：翻译机制成立（硬证据）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07</a:t>
            </a:r>
          </a:p>
        </p:txBody>
      </p:sp>
      <p:pic>
        <p:nvPicPr>
          <p:cNvPr id="6" name="Picture 5" descr="chart_de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50" y="1508760"/>
            <a:ext cx="5116179" cy="3383280"/>
          </a:xfrm>
          <a:prstGeom prst="rect">
            <a:avLst/>
          </a:prstGeom>
        </p:spPr>
      </p:pic>
      <p:pic>
        <p:nvPicPr>
          <p:cNvPr id="7" name="Picture 6" descr="chart_essen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750" y="1508760"/>
            <a:ext cx="5116179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74920"/>
            <a:ext cx="10972800" cy="1554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450" b="0">
                <a:solidFill>
                  <a:srgbClr val="2A2E35"/>
                </a:solidFill>
                <a:latin typeface="Microsoft YaHei"/>
              </a:rPr>
              <a:t>真实散斑噪声强空间相关（自相关 0.82）→ 翻译后近白（0.13），谱平坦度 ×9 → </a:t>
            </a:r>
            <a:r>
              <a:rPr sz="1450" b="1">
                <a:solidFill>
                  <a:srgbClr val="00A896"/>
                </a:solidFill>
                <a:latin typeface="Microsoft YaHei"/>
              </a:rPr>
              <a:t>确实被翻译成高斯。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450" b="0">
                <a:solidFill>
                  <a:srgbClr val="2A2E35"/>
                </a:solidFill>
                <a:latin typeface="Microsoft YaHei"/>
              </a:rPr>
              <a:t>把真实噪声直接喂盲高斯 D' 只有 14.2 dB（比噪声还差）；翻译后 20.3 dB（+6 dB）→ </a:t>
            </a:r>
            <a:r>
              <a:rPr sz="1450" b="1">
                <a:solidFill>
                  <a:srgbClr val="00A896"/>
                </a:solidFill>
                <a:latin typeface="Microsoft YaHei"/>
              </a:rPr>
              <a:t>翻译是“救命”的一步，且 NTN(20.3) &gt; N2N(19.3)。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237744" cy="23774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Microsoft YaHei"/>
              </a:rPr>
              <a:t>结果③：远 OOD（3×3 / mix）定性，细节更好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B7682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31089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9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6B7682"/>
                </a:solidFill>
                <a:latin typeface="Microsoft YaHei"/>
              </a:rPr>
              <a:t>［在此插入三联对比图：results/images/ood_compare/comparison/*.png］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B7682"/>
                </a:solidFill>
                <a:latin typeface="Microsoft YaHei"/>
              </a:rPr>
              <a:t>Input | N2N baseline | NTN(ours)，含血管局部放大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2A2E35"/>
                </a:solidFill>
                <a:latin typeface="Microsoft YaHei"/>
              </a:rPr>
              <a:t>在完全不同的采集几何(3×3)、不同场景/格式(mix, 含 .lbf)上：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0">
                <a:solidFill>
                  <a:srgbClr val="2A2E35"/>
                </a:solidFill>
                <a:latin typeface="Microsoft YaHei"/>
              </a:rPr>
              <a:t>N2N 明显过平滑、糊；NTN 保留更多沿血管细结构、边缘更锐。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500" b="1">
                <a:solidFill>
                  <a:srgbClr val="00A896"/>
                </a:solidFill>
                <a:latin typeface="Microsoft YaHei"/>
              </a:rPr>
              <a:t>规律：越“远”的 OOD，NTN 相对 N2N 的优势越大 —— 与论文论点一致。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结论 &amp; 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3291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700" b="1">
                <a:solidFill>
                  <a:srgbClr val="FFFFFF"/>
                </a:solidFill>
                <a:latin typeface="Microsoft YaHei"/>
              </a:rPr>
              <a:t>NTN 的“翻译→去高斯”机制在 BFI 上复现成功：</a:t>
            </a:r>
            <a:r>
              <a:rPr sz="1700" b="0">
                <a:solidFill>
                  <a:srgbClr val="CADCFC"/>
                </a:solidFill>
                <a:latin typeface="Microsoft YaHei"/>
              </a:rPr>
              <a:t>真实散斑被 decorrelate 成近白高斯。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700" b="1">
                <a:solidFill>
                  <a:srgbClr val="FFFFFF"/>
                </a:solidFill>
                <a:latin typeface="Microsoft YaHei"/>
              </a:rPr>
              <a:t>OOD 上 NTN 优于同数据训练的 N2N：</a:t>
            </a:r>
            <a:r>
              <a:rPr sz="1700" b="0">
                <a:solidFill>
                  <a:srgbClr val="CADCFC"/>
                </a:solidFill>
                <a:latin typeface="Microsoft YaHei"/>
              </a:rPr>
              <a:t>level1 +0.63 dB；远 OOD 视觉更优且更保血管。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00A896"/>
                </a:solidFill>
                <a:latin typeface="Microsoft YaHei"/>
              </a:rPr>
              <a:t>▪  </a:t>
            </a:r>
            <a:r>
              <a:rPr sz="1700" b="1">
                <a:solidFill>
                  <a:srgbClr val="00A896"/>
                </a:solidFill>
                <a:latin typeface="Microsoft YaHei"/>
              </a:rPr>
              <a:t>下一步（可选）：</a:t>
            </a:r>
            <a:r>
              <a:rPr sz="1700" b="0">
                <a:solidFill>
                  <a:srgbClr val="CADCFC"/>
                </a:solidFill>
                <a:latin typeface="Microsoft YaHei"/>
              </a:rPr>
              <a:t>把伪干净目标从 N2N 换成多帧均值，进一步保细血管、扩大增益。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B7682"/>
                </a:solidFill>
                <a:latin typeface="Microsoft YaHei"/>
              </a:rPr>
              <a:t>代码 / 实验全记录：github.com/sinyinler/NTN · experiment_log.md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